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7"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33" autoAdjust="0"/>
  </p:normalViewPr>
  <p:slideViewPr>
    <p:cSldViewPr snapToGrid="0">
      <p:cViewPr>
        <p:scale>
          <a:sx n="75" d="100"/>
          <a:sy n="75" d="100"/>
        </p:scale>
        <p:origin x="974"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74423" y="802298"/>
            <a:ext cx="8637073" cy="2920713"/>
          </a:xfrm>
        </p:spPr>
        <p:txBody>
          <a:bodyPr bIns="0" anchor="b">
            <a:normAutofit/>
          </a:bodyPr>
          <a:lstStyle>
            <a:lvl1pPr algn="ctr">
              <a:defRPr sz="6600"/>
            </a:lvl1pPr>
          </a:lstStyle>
          <a:p>
            <a:r>
              <a:rPr lang="en-US"/>
              <a:t>Click to edit Master title style</a:t>
            </a:r>
            <a:endParaRPr lang="en-US" dirty="0"/>
          </a:p>
        </p:txBody>
      </p:sp>
      <p:sp>
        <p:nvSpPr>
          <p:cNvPr id="3" name="Subtitle 2"/>
          <p:cNvSpPr>
            <a:spLocks noGrp="1"/>
          </p:cNvSpPr>
          <p:nvPr>
            <p:ph type="subTitle" idx="1"/>
          </p:nvPr>
        </p:nvSpPr>
        <p:spPr>
          <a:xfrm>
            <a:off x="1774424" y="3724074"/>
            <a:ext cx="8637072" cy="977621"/>
          </a:xfrm>
        </p:spPr>
        <p:txBody>
          <a:bodyPr tIns="91440" bIns="91440">
            <a:normAutofit/>
          </a:bodyPr>
          <a:lstStyle>
            <a:lvl1pPr marL="0" indent="0" algn="ctr">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1153D54-C1CF-4B6F-B6C9-E250796068B2}" type="datetimeFigureOut">
              <a:rPr lang="en-IN" smtClean="0"/>
              <a:t>10-01-2026</a:t>
            </a:fld>
            <a:endParaRPr lang="en-IN"/>
          </a:p>
        </p:txBody>
      </p:sp>
      <p:sp>
        <p:nvSpPr>
          <p:cNvPr id="5" name="Footer Placeholder 4"/>
          <p:cNvSpPr>
            <a:spLocks noGrp="1"/>
          </p:cNvSpPr>
          <p:nvPr>
            <p:ph type="ftr" sz="quarter" idx="11"/>
          </p:nvPr>
        </p:nvSpPr>
        <p:spPr>
          <a:xfrm>
            <a:off x="1451579" y="329307"/>
            <a:ext cx="5626774" cy="309201"/>
          </a:xfrm>
        </p:spPr>
        <p:txBody>
          <a:bodyPr/>
          <a:lstStyle/>
          <a:p>
            <a:endParaRPr lang="en-IN"/>
          </a:p>
        </p:txBody>
      </p:sp>
      <p:sp>
        <p:nvSpPr>
          <p:cNvPr id="6" name="Slide Number Placeholder 5"/>
          <p:cNvSpPr>
            <a:spLocks noGrp="1"/>
          </p:cNvSpPr>
          <p:nvPr>
            <p:ph type="sldNum" sz="quarter" idx="12"/>
          </p:nvPr>
        </p:nvSpPr>
        <p:spPr>
          <a:xfrm>
            <a:off x="476834" y="798973"/>
            <a:ext cx="811019" cy="503578"/>
          </a:xfrm>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24811091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153D54-C1CF-4B6F-B6C9-E250796068B2}" type="datetimeFigureOut">
              <a:rPr lang="en-IN" smtClean="0"/>
              <a:t>10-01-2026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3103183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969007"/>
          </a:xfrm>
        </p:spPr>
        <p:txBody>
          <a:bodyPr anchor="b">
            <a:normAutofit/>
          </a:bodyPr>
          <a:lstStyle>
            <a:lvl1pPr algn="ctr">
              <a:defRPr sz="3600"/>
            </a:lvl1pPr>
          </a:lstStyle>
          <a:p>
            <a:r>
              <a:rPr lang="en-US"/>
              <a:t>Click to edit Master title style</a:t>
            </a:r>
            <a:endParaRPr lang="en-US" dirty="0"/>
          </a:p>
        </p:txBody>
      </p:sp>
      <p:sp>
        <p:nvSpPr>
          <p:cNvPr id="3" name="Text Placeholder 2"/>
          <p:cNvSpPr>
            <a:spLocks noGrp="1"/>
          </p:cNvSpPr>
          <p:nvPr>
            <p:ph type="body" idx="1"/>
          </p:nvPr>
        </p:nvSpPr>
        <p:spPr>
          <a:xfrm>
            <a:off x="1774423" y="3725137"/>
            <a:ext cx="8643154" cy="1093987"/>
          </a:xfrm>
        </p:spPr>
        <p:txBody>
          <a:bodyPr tIns="91440">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153D54-C1CF-4B6F-B6C9-E250796068B2}" type="datetimeFigureOut">
              <a:rPr lang="en-IN" smtClean="0"/>
              <a:t>10-01-2026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3768757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29357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488654"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54140" y="2017343"/>
            <a:ext cx="4488654"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1153D54-C1CF-4B6F-B6C9-E250796068B2}" type="datetimeFigureOut">
              <a:rPr lang="en-IN" smtClean="0"/>
              <a:t>10-01-2026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4759766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295603"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488794"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488794"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56025" y="2023003"/>
            <a:ext cx="4488794"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56025" y="2821491"/>
            <a:ext cx="4488794"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1153D54-C1CF-4B6F-B6C9-E250796068B2}" type="datetimeFigureOut">
              <a:rPr lang="en-IN" smtClean="0"/>
              <a:t>10-01-2026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3603441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1153D54-C1CF-4B6F-B6C9-E250796068B2}" type="datetimeFigureOut">
              <a:rPr lang="en-IN" smtClean="0"/>
              <a:t>10-01-2026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3814220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153D54-C1CF-4B6F-B6C9-E250796068B2}" type="datetimeFigureOut">
              <a:rPr lang="en-IN" smtClean="0"/>
              <a:t>10-01-2026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3871024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2961967" cy="2406518"/>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3032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2961967"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153D54-C1CF-4B6F-B6C9-E250796068B2}" type="datetimeFigureOut">
              <a:rPr lang="en-IN" smtClean="0"/>
              <a:t>10-01-2026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2016031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title"/>
          </p:nvPr>
        </p:nvSpPr>
        <p:spPr>
          <a:xfrm>
            <a:off x="1451206" y="1129512"/>
            <a:ext cx="5532328" cy="1922299"/>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a:r>
              <a:rPr lang="en-US"/>
              <a:t>Click icon to add picture</a:t>
            </a:r>
            <a:endParaRPr lang="en-US" dirty="0"/>
          </a:p>
        </p:txBody>
      </p:sp>
      <p:sp>
        <p:nvSpPr>
          <p:cNvPr id="4" name="Text Placeholder 3"/>
          <p:cNvSpPr>
            <a:spLocks noGrp="1"/>
          </p:cNvSpPr>
          <p:nvPr>
            <p:ph type="body" sz="half" idx="2"/>
          </p:nvPr>
        </p:nvSpPr>
        <p:spPr>
          <a:xfrm>
            <a:off x="1450329" y="3059600"/>
            <a:ext cx="5524404" cy="2090134"/>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71153D54-C1CF-4B6F-B6C9-E250796068B2}" type="datetimeFigureOut">
              <a:rPr lang="en-IN" smtClean="0"/>
              <a:t>10-01-2026</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138413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153D54-C1CF-4B6F-B6C9-E250796068B2}" type="datetimeFigureOut">
              <a:rPr lang="en-IN" smtClean="0"/>
              <a:t>10-01-2026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26850000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7052"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518654"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153D54-C1CF-4B6F-B6C9-E250796068B2}" type="datetimeFigureOut">
              <a:rPr lang="en-IN" smtClean="0"/>
              <a:t>10-01-2026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15206528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79" y="804519"/>
            <a:ext cx="9291215" cy="104923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29121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42079"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71153D54-C1CF-4B6F-B6C9-E250796068B2}" type="datetimeFigureOut">
              <a:rPr lang="en-IN" smtClean="0"/>
              <a:t>10-01-2026</a:t>
            </a:fld>
            <a:endParaRPr lang="en-IN"/>
          </a:p>
        </p:txBody>
      </p:sp>
      <p:sp>
        <p:nvSpPr>
          <p:cNvPr id="5" name="Footer Placeholder 4"/>
          <p:cNvSpPr>
            <a:spLocks noGrp="1"/>
          </p:cNvSpPr>
          <p:nvPr>
            <p:ph type="ftr" sz="quarter" idx="3"/>
          </p:nvPr>
        </p:nvSpPr>
        <p:spPr>
          <a:xfrm>
            <a:off x="1451579" y="329307"/>
            <a:ext cx="562677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028BB553-2F52-429D-9148-B8579FA667B0}" type="slidenum">
              <a:rPr lang="en-IN" smtClean="0"/>
              <a:t>‹#›</a:t>
            </a:fld>
            <a:endParaRPr lang="en-IN"/>
          </a:p>
        </p:txBody>
      </p:sp>
      <p:sp>
        <p:nvSpPr>
          <p:cNvPr id="9" name="Rectangle 8"/>
          <p:cNvSpPr/>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10" name="Picture 9"/>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2" name="Straight Connector 11"/>
          <p:cNvCxnSpPr/>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3512170"/>
      </p:ext>
    </p:extLst>
  </p:cSld>
  <p:clrMap bg1="dk1" tx1="lt1" bg2="dk2" tx2="lt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Lst>
  <p:txStyles>
    <p:titleStyle>
      <a:lvl1pPr algn="ctr" defTabSz="9144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6006F-4B96-DB56-6D04-0042E589851E}"/>
              </a:ext>
            </a:extLst>
          </p:cNvPr>
          <p:cNvSpPr>
            <a:spLocks noGrp="1"/>
          </p:cNvSpPr>
          <p:nvPr>
            <p:ph type="ctrTitle"/>
          </p:nvPr>
        </p:nvSpPr>
        <p:spPr>
          <a:xfrm>
            <a:off x="1724829" y="1071716"/>
            <a:ext cx="9041494" cy="1946787"/>
          </a:xfrm>
        </p:spPr>
        <p:txBody>
          <a:bodyPr>
            <a:normAutofit/>
          </a:bodyPr>
          <a:lstStyle/>
          <a:p>
            <a:r>
              <a:rPr lang="en-US" sz="4000" b="1" dirty="0">
                <a:solidFill>
                  <a:schemeClr val="accent6">
                    <a:lumMod val="20000"/>
                    <a:lumOff val="80000"/>
                  </a:schemeClr>
                </a:solidFill>
                <a:latin typeface="Agency FB" panose="020B0503020202020204" pitchFamily="34" charset="0"/>
                <a:cs typeface="Times New Roman" panose="02020603050405020304" pitchFamily="18" charset="0"/>
              </a:rPr>
              <a:t>End-to-End Retail Performance </a:t>
            </a:r>
            <a:br>
              <a:rPr lang="en-US" sz="4000" b="1" dirty="0">
                <a:solidFill>
                  <a:schemeClr val="accent6">
                    <a:lumMod val="20000"/>
                    <a:lumOff val="80000"/>
                  </a:schemeClr>
                </a:solidFill>
                <a:latin typeface="Agency FB" panose="020B0503020202020204" pitchFamily="34" charset="0"/>
                <a:cs typeface="Times New Roman" panose="02020603050405020304" pitchFamily="18" charset="0"/>
              </a:rPr>
            </a:br>
            <a:r>
              <a:rPr lang="en-US" sz="4000" b="1" dirty="0">
                <a:solidFill>
                  <a:schemeClr val="accent6">
                    <a:lumMod val="20000"/>
                    <a:lumOff val="80000"/>
                  </a:schemeClr>
                </a:solidFill>
                <a:latin typeface="Agency FB" panose="020B0503020202020204" pitchFamily="34" charset="0"/>
                <a:cs typeface="Times New Roman" panose="02020603050405020304" pitchFamily="18" charset="0"/>
              </a:rPr>
              <a:t>and Behavioral Analytics </a:t>
            </a:r>
            <a:endParaRPr lang="en-IN" sz="4000" b="1" dirty="0">
              <a:solidFill>
                <a:schemeClr val="accent6">
                  <a:lumMod val="20000"/>
                  <a:lumOff val="80000"/>
                </a:schemeClr>
              </a:solidFill>
              <a:latin typeface="Agency FB" panose="020B0503020202020204" pitchFamily="34" charset="0"/>
              <a:cs typeface="Times New Roman" panose="02020603050405020304" pitchFamily="18" charset="0"/>
            </a:endParaRPr>
          </a:p>
        </p:txBody>
      </p:sp>
      <p:sp>
        <p:nvSpPr>
          <p:cNvPr id="3" name="Subtitle 2">
            <a:extLst>
              <a:ext uri="{FF2B5EF4-FFF2-40B4-BE49-F238E27FC236}">
                <a16:creationId xmlns:a16="http://schemas.microsoft.com/office/drawing/2014/main" id="{17734B42-2B00-BCEC-CA09-1F00DEBB99C9}"/>
              </a:ext>
            </a:extLst>
          </p:cNvPr>
          <p:cNvSpPr>
            <a:spLocks noGrp="1"/>
          </p:cNvSpPr>
          <p:nvPr>
            <p:ph type="subTitle" idx="1"/>
          </p:nvPr>
        </p:nvSpPr>
        <p:spPr>
          <a:xfrm>
            <a:off x="5697495" y="4531170"/>
            <a:ext cx="8637072" cy="977621"/>
          </a:xfrm>
        </p:spPr>
        <p:txBody>
          <a:bodyPr>
            <a:normAutofit fontScale="92500" lnSpcReduction="20000"/>
          </a:bodyPr>
          <a:lstStyle/>
          <a:p>
            <a:r>
              <a:rPr lang="en-US" sz="2800" b="1" dirty="0">
                <a:solidFill>
                  <a:schemeClr val="accent6">
                    <a:lumMod val="20000"/>
                    <a:lumOff val="80000"/>
                  </a:schemeClr>
                </a:solidFill>
                <a:latin typeface="Agency FB" panose="020B0503020202020204" pitchFamily="34" charset="0"/>
              </a:rPr>
              <a:t>Presented by </a:t>
            </a:r>
            <a:br>
              <a:rPr lang="en-US" sz="2800" b="1" dirty="0">
                <a:solidFill>
                  <a:schemeClr val="accent6">
                    <a:lumMod val="20000"/>
                    <a:lumOff val="80000"/>
                  </a:schemeClr>
                </a:solidFill>
                <a:latin typeface="Agency FB" panose="020B0503020202020204" pitchFamily="34" charset="0"/>
              </a:rPr>
            </a:br>
            <a:r>
              <a:rPr lang="en-US" sz="2800" b="1" dirty="0">
                <a:solidFill>
                  <a:schemeClr val="accent6">
                    <a:lumMod val="20000"/>
                    <a:lumOff val="80000"/>
                  </a:schemeClr>
                </a:solidFill>
                <a:latin typeface="Agency FB" panose="020B0503020202020204" pitchFamily="34" charset="0"/>
              </a:rPr>
              <a:t>t. Abhinav</a:t>
            </a:r>
            <a:endParaRPr lang="en-IN" sz="2800" b="1" dirty="0">
              <a:solidFill>
                <a:schemeClr val="accent6">
                  <a:lumMod val="20000"/>
                  <a:lumOff val="80000"/>
                </a:schemeClr>
              </a:solidFill>
              <a:latin typeface="Agency FB" panose="020B0503020202020204" pitchFamily="34" charset="0"/>
            </a:endParaRPr>
          </a:p>
        </p:txBody>
      </p:sp>
    </p:spTree>
    <p:extLst>
      <p:ext uri="{BB962C8B-B14F-4D97-AF65-F5344CB8AC3E}">
        <p14:creationId xmlns:p14="http://schemas.microsoft.com/office/powerpoint/2010/main" val="994180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09248D-4C5D-0C7E-C9FD-9111238EF2AC}"/>
              </a:ext>
            </a:extLst>
          </p:cNvPr>
          <p:cNvSpPr txBox="1"/>
          <p:nvPr/>
        </p:nvSpPr>
        <p:spPr>
          <a:xfrm>
            <a:off x="3765755" y="127820"/>
            <a:ext cx="4660490" cy="707886"/>
          </a:xfrm>
          <a:prstGeom prst="rect">
            <a:avLst/>
          </a:prstGeom>
          <a:noFill/>
        </p:spPr>
        <p:txBody>
          <a:bodyPr wrap="square" rtlCol="0">
            <a:spAutoFit/>
          </a:bodyPr>
          <a:lstStyle/>
          <a:p>
            <a:pPr algn="ctr"/>
            <a:r>
              <a:rPr lang="en-US" sz="4000" dirty="0">
                <a:solidFill>
                  <a:schemeClr val="accent6">
                    <a:lumMod val="20000"/>
                    <a:lumOff val="80000"/>
                  </a:schemeClr>
                </a:solidFill>
                <a:latin typeface="Agency FB" panose="020B0503020202020204" pitchFamily="34" charset="0"/>
              </a:rPr>
              <a:t> </a:t>
            </a:r>
            <a:r>
              <a:rPr lang="en-US" sz="4000" b="1" dirty="0">
                <a:solidFill>
                  <a:schemeClr val="accent6">
                    <a:lumMod val="20000"/>
                    <a:lumOff val="80000"/>
                  </a:schemeClr>
                </a:solidFill>
                <a:latin typeface="Agency FB" panose="020B0503020202020204" pitchFamily="34" charset="0"/>
              </a:rPr>
              <a:t>OVERVIEW</a:t>
            </a:r>
            <a:endParaRPr lang="en-IN" sz="4000" dirty="0">
              <a:solidFill>
                <a:schemeClr val="accent6">
                  <a:lumMod val="20000"/>
                  <a:lumOff val="80000"/>
                </a:schemeClr>
              </a:solidFill>
              <a:latin typeface="Agency FB" panose="020B0503020202020204" pitchFamily="34" charset="0"/>
            </a:endParaRPr>
          </a:p>
        </p:txBody>
      </p:sp>
      <p:sp>
        <p:nvSpPr>
          <p:cNvPr id="4" name="TextBox 3">
            <a:extLst>
              <a:ext uri="{FF2B5EF4-FFF2-40B4-BE49-F238E27FC236}">
                <a16:creationId xmlns:a16="http://schemas.microsoft.com/office/drawing/2014/main" id="{C6FB79D2-68BF-CDFC-1F35-4355AB113E90}"/>
              </a:ext>
            </a:extLst>
          </p:cNvPr>
          <p:cNvSpPr txBox="1"/>
          <p:nvPr/>
        </p:nvSpPr>
        <p:spPr>
          <a:xfrm>
            <a:off x="471948" y="1160206"/>
            <a:ext cx="10943304" cy="4678204"/>
          </a:xfrm>
          <a:prstGeom prst="rect">
            <a:avLst/>
          </a:prstGeom>
          <a:noFill/>
        </p:spPr>
        <p:txBody>
          <a:bodyPr wrap="square" rtlCol="0">
            <a:spAutoFit/>
          </a:bodyPr>
          <a:lstStyle/>
          <a:p>
            <a:pPr algn="just">
              <a:lnSpc>
                <a:spcPct val="150000"/>
              </a:lnSpc>
              <a:spcAft>
                <a:spcPts val="600"/>
              </a:spcAft>
            </a:pPr>
            <a:r>
              <a:rPr lang="en-US" dirty="0">
                <a:solidFill>
                  <a:schemeClr val="accent6">
                    <a:lumMod val="20000"/>
                    <a:lumOff val="80000"/>
                  </a:schemeClr>
                </a:solidFill>
              </a:rPr>
              <a:t>Over the last few years, RetailNova has experienced rapid growth in online orders, especially during the pandemic. However, recent quarters have seen increased product returns, customer churn, and declining profitability in certain regions and product categories. To maintain its market position and plan for the next growth phase, RetailNova’s leadership wants to become more data-driven in its decision-making. </a:t>
            </a:r>
          </a:p>
          <a:p>
            <a:pPr algn="just">
              <a:spcAft>
                <a:spcPts val="600"/>
              </a:spcAft>
            </a:pPr>
            <a:endParaRPr lang="en-US" dirty="0">
              <a:solidFill>
                <a:schemeClr val="accent6">
                  <a:lumMod val="20000"/>
                  <a:lumOff val="80000"/>
                </a:schemeClr>
              </a:solidFill>
            </a:endParaRPr>
          </a:p>
          <a:p>
            <a:pPr algn="just">
              <a:spcAft>
                <a:spcPts val="600"/>
              </a:spcAft>
            </a:pPr>
            <a:r>
              <a:rPr lang="en-US" sz="2000" b="1" dirty="0">
                <a:solidFill>
                  <a:schemeClr val="accent6">
                    <a:lumMod val="20000"/>
                    <a:lumOff val="80000"/>
                  </a:schemeClr>
                </a:solidFill>
              </a:rPr>
              <a:t>Business Goals:</a:t>
            </a:r>
          </a:p>
          <a:p>
            <a:pPr marL="742950" lvl="1" indent="-285750" algn="just">
              <a:spcAft>
                <a:spcPts val="600"/>
              </a:spcAft>
              <a:buFont typeface="Courier New" panose="02070309020205020404" pitchFamily="49" charset="0"/>
              <a:buChar char="o"/>
            </a:pPr>
            <a:r>
              <a:rPr lang="en-US" dirty="0">
                <a:solidFill>
                  <a:schemeClr val="accent6">
                    <a:lumMod val="20000"/>
                    <a:lumOff val="80000"/>
                  </a:schemeClr>
                </a:solidFill>
              </a:rPr>
              <a:t> Identify key sales trends and anomalies </a:t>
            </a:r>
          </a:p>
          <a:p>
            <a:pPr marL="742950" lvl="1" indent="-285750" algn="just">
              <a:spcAft>
                <a:spcPts val="600"/>
              </a:spcAft>
              <a:buFont typeface="Courier New" panose="02070309020205020404" pitchFamily="49" charset="0"/>
              <a:buChar char="o"/>
            </a:pPr>
            <a:r>
              <a:rPr lang="en-US" dirty="0">
                <a:solidFill>
                  <a:schemeClr val="accent6">
                    <a:lumMod val="20000"/>
                    <a:lumOff val="80000"/>
                  </a:schemeClr>
                </a:solidFill>
              </a:rPr>
              <a:t> Understand customer behavior and segmentation </a:t>
            </a:r>
          </a:p>
          <a:p>
            <a:pPr marL="742950" lvl="1" indent="-285750" algn="just">
              <a:spcAft>
                <a:spcPts val="600"/>
              </a:spcAft>
              <a:buFont typeface="Courier New" panose="02070309020205020404" pitchFamily="49" charset="0"/>
              <a:buChar char="o"/>
            </a:pPr>
            <a:r>
              <a:rPr lang="en-US" dirty="0">
                <a:solidFill>
                  <a:schemeClr val="accent6">
                    <a:lumMod val="20000"/>
                    <a:lumOff val="80000"/>
                  </a:schemeClr>
                </a:solidFill>
              </a:rPr>
              <a:t> Optimize product performance and inventory </a:t>
            </a:r>
          </a:p>
          <a:p>
            <a:pPr marL="742950" lvl="1" indent="-285750" algn="just">
              <a:spcAft>
                <a:spcPts val="600"/>
              </a:spcAft>
              <a:buFont typeface="Courier New" panose="02070309020205020404" pitchFamily="49" charset="0"/>
              <a:buChar char="o"/>
            </a:pPr>
            <a:r>
              <a:rPr lang="en-US" dirty="0">
                <a:solidFill>
                  <a:schemeClr val="accent6">
                    <a:lumMod val="20000"/>
                    <a:lumOff val="80000"/>
                  </a:schemeClr>
                </a:solidFill>
              </a:rPr>
              <a:t> Improve store and regional profitability </a:t>
            </a:r>
          </a:p>
          <a:p>
            <a:pPr marL="742950" lvl="1" indent="-285750" algn="just">
              <a:spcAft>
                <a:spcPts val="600"/>
              </a:spcAft>
              <a:buFont typeface="Courier New" panose="02070309020205020404" pitchFamily="49" charset="0"/>
              <a:buChar char="o"/>
            </a:pPr>
            <a:r>
              <a:rPr lang="en-US" dirty="0">
                <a:solidFill>
                  <a:schemeClr val="accent6">
                    <a:lumMod val="20000"/>
                    <a:lumOff val="80000"/>
                  </a:schemeClr>
                </a:solidFill>
              </a:rPr>
              <a:t> Support decision-making through data visualization and reporting</a:t>
            </a:r>
            <a:endParaRPr lang="en-IN" dirty="0">
              <a:solidFill>
                <a:schemeClr val="accent6">
                  <a:lumMod val="20000"/>
                  <a:lumOff val="80000"/>
                </a:schemeClr>
              </a:solidFill>
            </a:endParaRPr>
          </a:p>
        </p:txBody>
      </p:sp>
    </p:spTree>
    <p:extLst>
      <p:ext uri="{BB962C8B-B14F-4D97-AF65-F5344CB8AC3E}">
        <p14:creationId xmlns:p14="http://schemas.microsoft.com/office/powerpoint/2010/main" val="2835768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BC5DCC-A412-6FC6-ACC1-1DEB2B8DCDFB}"/>
              </a:ext>
            </a:extLst>
          </p:cNvPr>
          <p:cNvSpPr txBox="1"/>
          <p:nvPr/>
        </p:nvSpPr>
        <p:spPr>
          <a:xfrm>
            <a:off x="3593690" y="206478"/>
            <a:ext cx="5004619" cy="1323439"/>
          </a:xfrm>
          <a:prstGeom prst="rect">
            <a:avLst/>
          </a:prstGeom>
          <a:noFill/>
        </p:spPr>
        <p:txBody>
          <a:bodyPr wrap="square" rtlCol="0">
            <a:spAutoFit/>
          </a:bodyPr>
          <a:lstStyle/>
          <a:p>
            <a:pPr algn="ctr"/>
            <a:r>
              <a:rPr lang="en-US" sz="4000" b="1" dirty="0">
                <a:solidFill>
                  <a:schemeClr val="accent6">
                    <a:lumMod val="20000"/>
                    <a:lumOff val="80000"/>
                  </a:schemeClr>
                </a:solidFill>
                <a:latin typeface="Agency FB" panose="020B0503020202020204" pitchFamily="34" charset="0"/>
              </a:rPr>
              <a:t>METHODOLOGY</a:t>
            </a:r>
          </a:p>
          <a:p>
            <a:pPr algn="ctr"/>
            <a:endParaRPr lang="en-IN" sz="4000" b="1" dirty="0">
              <a:solidFill>
                <a:schemeClr val="accent6">
                  <a:lumMod val="20000"/>
                  <a:lumOff val="80000"/>
                </a:schemeClr>
              </a:solidFill>
              <a:latin typeface="Agency FB" panose="020B0503020202020204" pitchFamily="34" charset="0"/>
            </a:endParaRPr>
          </a:p>
        </p:txBody>
      </p:sp>
      <p:sp>
        <p:nvSpPr>
          <p:cNvPr id="3" name="TextBox 2">
            <a:extLst>
              <a:ext uri="{FF2B5EF4-FFF2-40B4-BE49-F238E27FC236}">
                <a16:creationId xmlns:a16="http://schemas.microsoft.com/office/drawing/2014/main" id="{8DF2C8C6-2B78-03DF-39DA-2EC67520EDDF}"/>
              </a:ext>
            </a:extLst>
          </p:cNvPr>
          <p:cNvSpPr txBox="1"/>
          <p:nvPr/>
        </p:nvSpPr>
        <p:spPr>
          <a:xfrm>
            <a:off x="1042219" y="1111045"/>
            <a:ext cx="10245541" cy="6124754"/>
          </a:xfrm>
          <a:prstGeom prst="rect">
            <a:avLst/>
          </a:prstGeom>
          <a:noFill/>
        </p:spPr>
        <p:txBody>
          <a:bodyPr wrap="square" rtlCol="0">
            <a:spAutoFit/>
          </a:bodyPr>
          <a:lstStyle/>
          <a:p>
            <a:pPr marL="285750" indent="-285750" algn="just">
              <a:lnSpc>
                <a:spcPct val="200000"/>
              </a:lnSpc>
              <a:buFont typeface="Courier New" panose="02070309020205020404" pitchFamily="49" charset="0"/>
              <a:buChar char="o"/>
            </a:pPr>
            <a:r>
              <a:rPr lang="en-US" sz="2000" b="1" dirty="0">
                <a:solidFill>
                  <a:schemeClr val="accent6">
                    <a:lumMod val="20000"/>
                    <a:lumOff val="80000"/>
                  </a:schemeClr>
                </a:solidFill>
              </a:rPr>
              <a:t>Data Cleaning &amp; EDA :</a:t>
            </a:r>
          </a:p>
          <a:p>
            <a:pPr algn="just">
              <a:lnSpc>
                <a:spcPct val="200000"/>
              </a:lnSpc>
            </a:pPr>
            <a:r>
              <a:rPr lang="en-US" sz="2000" dirty="0">
                <a:solidFill>
                  <a:schemeClr val="accent6">
                    <a:lumMod val="20000"/>
                    <a:lumOff val="80000"/>
                  </a:schemeClr>
                </a:solidFill>
              </a:rPr>
              <a:t>    	</a:t>
            </a:r>
            <a:r>
              <a:rPr lang="en-US" dirty="0">
                <a:solidFill>
                  <a:schemeClr val="accent6">
                    <a:lumMod val="20000"/>
                    <a:lumOff val="80000"/>
                  </a:schemeClr>
                </a:solidFill>
              </a:rPr>
              <a:t>Cleaning the raw csv files, adding new columns, changing the datatypes  and run the      	basic EDA using python.</a:t>
            </a:r>
          </a:p>
          <a:p>
            <a:pPr marL="285750" indent="-285750" algn="just">
              <a:lnSpc>
                <a:spcPct val="200000"/>
              </a:lnSpc>
              <a:buFont typeface="Courier New" panose="02070309020205020404" pitchFamily="49" charset="0"/>
              <a:buChar char="o"/>
            </a:pPr>
            <a:r>
              <a:rPr lang="en-US" sz="2000" b="1" dirty="0">
                <a:solidFill>
                  <a:schemeClr val="accent6">
                    <a:lumMod val="20000"/>
                    <a:lumOff val="80000"/>
                  </a:schemeClr>
                </a:solidFill>
              </a:rPr>
              <a:t>SQL Analysis :</a:t>
            </a:r>
          </a:p>
          <a:p>
            <a:pPr algn="just">
              <a:lnSpc>
                <a:spcPct val="200000"/>
              </a:lnSpc>
            </a:pPr>
            <a:r>
              <a:rPr lang="en-US" sz="2000" dirty="0">
                <a:solidFill>
                  <a:schemeClr val="accent6">
                    <a:lumMod val="20000"/>
                    <a:lumOff val="80000"/>
                  </a:schemeClr>
                </a:solidFill>
              </a:rPr>
              <a:t>    	</a:t>
            </a:r>
            <a:r>
              <a:rPr lang="en-US" dirty="0">
                <a:solidFill>
                  <a:schemeClr val="accent6">
                    <a:lumMod val="20000"/>
                    <a:lumOff val="80000"/>
                  </a:schemeClr>
                </a:solidFill>
              </a:rPr>
              <a:t>After cleaning the csv files, create a Database, import the cleaned data and solve different  	business questions.</a:t>
            </a:r>
          </a:p>
          <a:p>
            <a:pPr marL="285750" indent="-285750" algn="just">
              <a:lnSpc>
                <a:spcPct val="200000"/>
              </a:lnSpc>
              <a:buFont typeface="Courier New" panose="02070309020205020404" pitchFamily="49" charset="0"/>
              <a:buChar char="o"/>
            </a:pPr>
            <a:r>
              <a:rPr lang="en-US" sz="2000" b="1" dirty="0">
                <a:solidFill>
                  <a:schemeClr val="accent6">
                    <a:lumMod val="20000"/>
                    <a:lumOff val="80000"/>
                  </a:schemeClr>
                </a:solidFill>
              </a:rPr>
              <a:t>Data Visualization :</a:t>
            </a:r>
          </a:p>
          <a:p>
            <a:pPr algn="just">
              <a:lnSpc>
                <a:spcPct val="200000"/>
              </a:lnSpc>
            </a:pPr>
            <a:r>
              <a:rPr lang="en-US" sz="2000" dirty="0">
                <a:solidFill>
                  <a:schemeClr val="accent6">
                    <a:lumMod val="20000"/>
                    <a:lumOff val="80000"/>
                  </a:schemeClr>
                </a:solidFill>
              </a:rPr>
              <a:t>    	</a:t>
            </a:r>
            <a:r>
              <a:rPr lang="en-US" dirty="0">
                <a:solidFill>
                  <a:schemeClr val="accent6">
                    <a:lumMod val="20000"/>
                    <a:lumOff val="80000"/>
                  </a:schemeClr>
                </a:solidFill>
              </a:rPr>
              <a:t>Creating some interactive dashboard using Power BI through the cleaned datasets.</a:t>
            </a:r>
            <a:endParaRPr lang="en-US" b="1" dirty="0">
              <a:solidFill>
                <a:schemeClr val="accent6">
                  <a:lumMod val="20000"/>
                  <a:lumOff val="80000"/>
                </a:schemeClr>
              </a:solidFill>
            </a:endParaRPr>
          </a:p>
          <a:p>
            <a:pPr>
              <a:lnSpc>
                <a:spcPct val="200000"/>
              </a:lnSpc>
            </a:pPr>
            <a:r>
              <a:rPr lang="en-US" sz="2000" dirty="0"/>
              <a:t> </a:t>
            </a:r>
          </a:p>
          <a:p>
            <a:endParaRPr lang="en-US" sz="2000" dirty="0"/>
          </a:p>
          <a:p>
            <a:endParaRPr lang="en-IN" sz="2000" dirty="0"/>
          </a:p>
        </p:txBody>
      </p:sp>
    </p:spTree>
    <p:extLst>
      <p:ext uri="{BB962C8B-B14F-4D97-AF65-F5344CB8AC3E}">
        <p14:creationId xmlns:p14="http://schemas.microsoft.com/office/powerpoint/2010/main" val="2016803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7E73232-BAB5-207D-D875-068EA8D07A46}"/>
              </a:ext>
            </a:extLst>
          </p:cNvPr>
          <p:cNvPicPr>
            <a:picLocks noChangeAspect="1"/>
          </p:cNvPicPr>
          <p:nvPr/>
        </p:nvPicPr>
        <p:blipFill>
          <a:blip r:embed="rId2"/>
          <a:stretch>
            <a:fillRect/>
          </a:stretch>
        </p:blipFill>
        <p:spPr>
          <a:xfrm>
            <a:off x="1177251" y="193040"/>
            <a:ext cx="9837497" cy="5926123"/>
          </a:xfrm>
          <a:prstGeom prst="rect">
            <a:avLst/>
          </a:prstGeom>
        </p:spPr>
      </p:pic>
    </p:spTree>
    <p:extLst>
      <p:ext uri="{BB962C8B-B14F-4D97-AF65-F5344CB8AC3E}">
        <p14:creationId xmlns:p14="http://schemas.microsoft.com/office/powerpoint/2010/main" val="2972478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DEF9508-F973-EA5A-1E78-28CEE2268AA6}"/>
              </a:ext>
            </a:extLst>
          </p:cNvPr>
          <p:cNvPicPr>
            <a:picLocks noChangeAspect="1"/>
          </p:cNvPicPr>
          <p:nvPr/>
        </p:nvPicPr>
        <p:blipFill>
          <a:blip r:embed="rId2"/>
          <a:stretch>
            <a:fillRect/>
          </a:stretch>
        </p:blipFill>
        <p:spPr>
          <a:xfrm>
            <a:off x="1856783" y="367289"/>
            <a:ext cx="8478433" cy="5391902"/>
          </a:xfrm>
          <a:prstGeom prst="rect">
            <a:avLst/>
          </a:prstGeom>
        </p:spPr>
      </p:pic>
    </p:spTree>
    <p:extLst>
      <p:ext uri="{BB962C8B-B14F-4D97-AF65-F5344CB8AC3E}">
        <p14:creationId xmlns:p14="http://schemas.microsoft.com/office/powerpoint/2010/main" val="1656688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708BEE-066D-16E4-198E-463945AA0D4E}"/>
              </a:ext>
            </a:extLst>
          </p:cNvPr>
          <p:cNvPicPr>
            <a:picLocks noChangeAspect="1"/>
          </p:cNvPicPr>
          <p:nvPr/>
        </p:nvPicPr>
        <p:blipFill>
          <a:blip r:embed="rId2"/>
          <a:stretch>
            <a:fillRect/>
          </a:stretch>
        </p:blipFill>
        <p:spPr>
          <a:xfrm>
            <a:off x="1623063" y="233680"/>
            <a:ext cx="8945873" cy="5756408"/>
          </a:xfrm>
          <a:prstGeom prst="rect">
            <a:avLst/>
          </a:prstGeom>
        </p:spPr>
      </p:pic>
    </p:spTree>
    <p:extLst>
      <p:ext uri="{BB962C8B-B14F-4D97-AF65-F5344CB8AC3E}">
        <p14:creationId xmlns:p14="http://schemas.microsoft.com/office/powerpoint/2010/main" val="1877936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9D5C62-F9BB-12AD-110F-FE9657BB26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5857" y="0"/>
            <a:ext cx="8840285" cy="6129885"/>
          </a:xfrm>
          <a:prstGeom prst="rect">
            <a:avLst/>
          </a:prstGeom>
        </p:spPr>
      </p:pic>
    </p:spTree>
    <p:extLst>
      <p:ext uri="{BB962C8B-B14F-4D97-AF65-F5344CB8AC3E}">
        <p14:creationId xmlns:p14="http://schemas.microsoft.com/office/powerpoint/2010/main" val="8392231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52F894-F0E3-E976-AA62-690FB0519388}"/>
              </a:ext>
            </a:extLst>
          </p:cNvPr>
          <p:cNvPicPr>
            <a:picLocks noChangeAspect="1"/>
          </p:cNvPicPr>
          <p:nvPr/>
        </p:nvPicPr>
        <p:blipFill>
          <a:blip r:embed="rId2"/>
          <a:stretch>
            <a:fillRect/>
          </a:stretch>
        </p:blipFill>
        <p:spPr>
          <a:xfrm>
            <a:off x="1505304" y="108696"/>
            <a:ext cx="4184298" cy="3083688"/>
          </a:xfrm>
          <a:prstGeom prst="rect">
            <a:avLst/>
          </a:prstGeom>
        </p:spPr>
      </p:pic>
      <p:pic>
        <p:nvPicPr>
          <p:cNvPr id="5" name="Picture 4">
            <a:extLst>
              <a:ext uri="{FF2B5EF4-FFF2-40B4-BE49-F238E27FC236}">
                <a16:creationId xmlns:a16="http://schemas.microsoft.com/office/drawing/2014/main" id="{66802967-C29C-0A7D-BD8E-C70F1191F161}"/>
              </a:ext>
            </a:extLst>
          </p:cNvPr>
          <p:cNvPicPr>
            <a:picLocks noChangeAspect="1"/>
          </p:cNvPicPr>
          <p:nvPr/>
        </p:nvPicPr>
        <p:blipFill>
          <a:blip r:embed="rId3"/>
          <a:stretch>
            <a:fillRect/>
          </a:stretch>
        </p:blipFill>
        <p:spPr>
          <a:xfrm>
            <a:off x="712063" y="3256280"/>
            <a:ext cx="5383937" cy="2806333"/>
          </a:xfrm>
          <a:prstGeom prst="rect">
            <a:avLst/>
          </a:prstGeom>
        </p:spPr>
      </p:pic>
      <p:sp>
        <p:nvSpPr>
          <p:cNvPr id="6" name="TextBox 5">
            <a:extLst>
              <a:ext uri="{FF2B5EF4-FFF2-40B4-BE49-F238E27FC236}">
                <a16:creationId xmlns:a16="http://schemas.microsoft.com/office/drawing/2014/main" id="{FDEE944B-56BF-E6E5-69FF-E949CCFD5A01}"/>
              </a:ext>
            </a:extLst>
          </p:cNvPr>
          <p:cNvSpPr txBox="1"/>
          <p:nvPr/>
        </p:nvSpPr>
        <p:spPr>
          <a:xfrm>
            <a:off x="6502399" y="670560"/>
            <a:ext cx="5527040" cy="1288879"/>
          </a:xfrm>
          <a:prstGeom prst="rect">
            <a:avLst/>
          </a:prstGeom>
          <a:noFill/>
        </p:spPr>
        <p:txBody>
          <a:bodyPr wrap="square" rtlCol="0">
            <a:spAutoFit/>
          </a:bodyPr>
          <a:lstStyle/>
          <a:p>
            <a:pPr>
              <a:lnSpc>
                <a:spcPct val="150000"/>
              </a:lnSpc>
            </a:pPr>
            <a:r>
              <a:rPr lang="en-US" dirty="0">
                <a:solidFill>
                  <a:schemeClr val="accent6">
                    <a:lumMod val="20000"/>
                    <a:lumOff val="80000"/>
                  </a:schemeClr>
                </a:solidFill>
              </a:rPr>
              <a:t>This Bar Chart Shows:</a:t>
            </a:r>
          </a:p>
          <a:p>
            <a:pPr marL="285750" indent="-285750">
              <a:lnSpc>
                <a:spcPct val="150000"/>
              </a:lnSpc>
              <a:buFont typeface="Wingdings" panose="05000000000000000000" pitchFamily="2" charset="2"/>
              <a:buChar char="Ø"/>
            </a:pPr>
            <a:r>
              <a:rPr lang="en-US" dirty="0">
                <a:solidFill>
                  <a:schemeClr val="accent6">
                    <a:lumMod val="20000"/>
                    <a:lumOff val="80000"/>
                  </a:schemeClr>
                </a:solidFill>
              </a:rPr>
              <a:t>In-store sales dominate at 579K, more than double the 240K generated from online sales.</a:t>
            </a:r>
            <a:endParaRPr lang="en-IN" dirty="0">
              <a:solidFill>
                <a:schemeClr val="accent6">
                  <a:lumMod val="20000"/>
                  <a:lumOff val="80000"/>
                </a:schemeClr>
              </a:solidFill>
            </a:endParaRPr>
          </a:p>
        </p:txBody>
      </p:sp>
      <p:sp>
        <p:nvSpPr>
          <p:cNvPr id="7" name="TextBox 6">
            <a:extLst>
              <a:ext uri="{FF2B5EF4-FFF2-40B4-BE49-F238E27FC236}">
                <a16:creationId xmlns:a16="http://schemas.microsoft.com/office/drawing/2014/main" id="{CCD5332E-A51D-098E-6833-3F0D92FB12BD}"/>
              </a:ext>
            </a:extLst>
          </p:cNvPr>
          <p:cNvSpPr txBox="1"/>
          <p:nvPr/>
        </p:nvSpPr>
        <p:spPr>
          <a:xfrm>
            <a:off x="6502399" y="3184010"/>
            <a:ext cx="5383937" cy="2535374"/>
          </a:xfrm>
          <a:prstGeom prst="rect">
            <a:avLst/>
          </a:prstGeom>
          <a:noFill/>
        </p:spPr>
        <p:txBody>
          <a:bodyPr wrap="square" rtlCol="0">
            <a:spAutoFit/>
          </a:bodyPr>
          <a:lstStyle/>
          <a:p>
            <a:pPr algn="just">
              <a:lnSpc>
                <a:spcPct val="150000"/>
              </a:lnSpc>
            </a:pPr>
            <a:r>
              <a:rPr lang="en-US" dirty="0">
                <a:solidFill>
                  <a:schemeClr val="accent6">
                    <a:lumMod val="20000"/>
                    <a:lumOff val="80000"/>
                  </a:schemeClr>
                </a:solidFill>
              </a:rPr>
              <a:t>This Chart indicates :</a:t>
            </a:r>
          </a:p>
          <a:p>
            <a:pPr marL="285750" indent="-285750" algn="just">
              <a:lnSpc>
                <a:spcPct val="150000"/>
              </a:lnSpc>
              <a:buFont typeface="Wingdings" panose="05000000000000000000" pitchFamily="2" charset="2"/>
              <a:buChar char="Ø"/>
            </a:pPr>
            <a:r>
              <a:rPr lang="en-US" dirty="0">
                <a:solidFill>
                  <a:schemeClr val="accent6">
                    <a:lumMod val="20000"/>
                    <a:lumOff val="80000"/>
                  </a:schemeClr>
                </a:solidFill>
              </a:rPr>
              <a:t>Customer numbers are highest in the middle aged groups, especially 35–44 and 25–34.</a:t>
            </a:r>
            <a:br>
              <a:rPr lang="en-US" dirty="0">
                <a:solidFill>
                  <a:schemeClr val="accent6">
                    <a:lumMod val="20000"/>
                    <a:lumOff val="80000"/>
                  </a:schemeClr>
                </a:solidFill>
              </a:rPr>
            </a:br>
            <a:endParaRPr lang="en-US" dirty="0">
              <a:solidFill>
                <a:schemeClr val="accent6">
                  <a:lumMod val="20000"/>
                  <a:lumOff val="80000"/>
                </a:schemeClr>
              </a:solidFill>
            </a:endParaRPr>
          </a:p>
          <a:p>
            <a:pPr marL="285750" indent="-285750" algn="just">
              <a:lnSpc>
                <a:spcPct val="150000"/>
              </a:lnSpc>
              <a:buFont typeface="Wingdings" panose="05000000000000000000" pitchFamily="2" charset="2"/>
              <a:buChar char="Ø"/>
            </a:pPr>
            <a:r>
              <a:rPr lang="en-US" dirty="0">
                <a:solidFill>
                  <a:schemeClr val="accent6">
                    <a:lumMod val="20000"/>
                    <a:lumOff val="80000"/>
                  </a:schemeClr>
                </a:solidFill>
              </a:rPr>
              <a:t>Younger (18–24) and older (65–75) age groups make up the smallest share of customers.</a:t>
            </a:r>
            <a:endParaRPr lang="en-IN" dirty="0">
              <a:solidFill>
                <a:schemeClr val="accent6">
                  <a:lumMod val="20000"/>
                  <a:lumOff val="80000"/>
                </a:schemeClr>
              </a:solidFill>
            </a:endParaRPr>
          </a:p>
        </p:txBody>
      </p:sp>
    </p:spTree>
    <p:extLst>
      <p:ext uri="{BB962C8B-B14F-4D97-AF65-F5344CB8AC3E}">
        <p14:creationId xmlns:p14="http://schemas.microsoft.com/office/powerpoint/2010/main" val="696412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8437DB-B1B8-395A-668A-57149DC19130}"/>
              </a:ext>
            </a:extLst>
          </p:cNvPr>
          <p:cNvPicPr>
            <a:picLocks noChangeAspect="1"/>
          </p:cNvPicPr>
          <p:nvPr/>
        </p:nvPicPr>
        <p:blipFill>
          <a:blip r:embed="rId2"/>
          <a:stretch>
            <a:fillRect/>
          </a:stretch>
        </p:blipFill>
        <p:spPr>
          <a:xfrm>
            <a:off x="759397" y="1234956"/>
            <a:ext cx="5336603" cy="3283281"/>
          </a:xfrm>
          <a:prstGeom prst="rect">
            <a:avLst/>
          </a:prstGeom>
        </p:spPr>
      </p:pic>
      <p:sp>
        <p:nvSpPr>
          <p:cNvPr id="4" name="TextBox 3">
            <a:extLst>
              <a:ext uri="{FF2B5EF4-FFF2-40B4-BE49-F238E27FC236}">
                <a16:creationId xmlns:a16="http://schemas.microsoft.com/office/drawing/2014/main" id="{E476397B-5C65-DA8D-0250-33BFCAE6741F}"/>
              </a:ext>
            </a:extLst>
          </p:cNvPr>
          <p:cNvSpPr txBox="1"/>
          <p:nvPr/>
        </p:nvSpPr>
        <p:spPr>
          <a:xfrm>
            <a:off x="6350000" y="1473200"/>
            <a:ext cx="5628640" cy="2806794"/>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sz="2000" dirty="0">
                <a:solidFill>
                  <a:schemeClr val="accent6">
                    <a:lumMod val="20000"/>
                    <a:lumOff val="80000"/>
                  </a:schemeClr>
                </a:solidFill>
              </a:rPr>
              <a:t>Customer distribution is almost equal across all regions, with each contributing around 25% of total customers.</a:t>
            </a:r>
          </a:p>
          <a:p>
            <a:pPr marL="285750" indent="-285750" algn="just">
              <a:lnSpc>
                <a:spcPct val="150000"/>
              </a:lnSpc>
              <a:buFont typeface="Wingdings" panose="05000000000000000000" pitchFamily="2" charset="2"/>
              <a:buChar char="Ø"/>
            </a:pPr>
            <a:r>
              <a:rPr lang="en-US" sz="2000" dirty="0">
                <a:solidFill>
                  <a:schemeClr val="accent6">
                    <a:lumMod val="20000"/>
                    <a:lumOff val="80000"/>
                  </a:schemeClr>
                </a:solidFill>
              </a:rPr>
              <a:t>The West leads slightly with 204 customers, while the South is the lowest at 196, showing a well-balanced market.</a:t>
            </a:r>
            <a:endParaRPr lang="en-IN" sz="2000" dirty="0">
              <a:solidFill>
                <a:schemeClr val="accent6">
                  <a:lumMod val="20000"/>
                  <a:lumOff val="80000"/>
                </a:schemeClr>
              </a:solidFill>
            </a:endParaRPr>
          </a:p>
        </p:txBody>
      </p:sp>
    </p:spTree>
    <p:extLst>
      <p:ext uri="{BB962C8B-B14F-4D97-AF65-F5344CB8AC3E}">
        <p14:creationId xmlns:p14="http://schemas.microsoft.com/office/powerpoint/2010/main" val="3873680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A5819B9-BBB2-E667-9A18-1545C5B81996}"/>
              </a:ext>
            </a:extLst>
          </p:cNvPr>
          <p:cNvSpPr txBox="1"/>
          <p:nvPr/>
        </p:nvSpPr>
        <p:spPr>
          <a:xfrm>
            <a:off x="2834640" y="194697"/>
            <a:ext cx="6522720" cy="707886"/>
          </a:xfrm>
          <a:prstGeom prst="rect">
            <a:avLst/>
          </a:prstGeom>
          <a:noFill/>
        </p:spPr>
        <p:txBody>
          <a:bodyPr wrap="square" rtlCol="0">
            <a:spAutoFit/>
          </a:bodyPr>
          <a:lstStyle/>
          <a:p>
            <a:pPr algn="ctr"/>
            <a:r>
              <a:rPr lang="en-US" sz="4000" b="1" dirty="0">
                <a:solidFill>
                  <a:schemeClr val="accent6">
                    <a:lumMod val="20000"/>
                    <a:lumOff val="80000"/>
                  </a:schemeClr>
                </a:solidFill>
                <a:latin typeface="Agency FB" panose="020B0503020202020204" pitchFamily="34" charset="0"/>
              </a:rPr>
              <a:t>CHALLENGES FACED </a:t>
            </a:r>
            <a:endParaRPr lang="en-IN" sz="4000" b="1" dirty="0">
              <a:solidFill>
                <a:schemeClr val="accent6">
                  <a:lumMod val="20000"/>
                  <a:lumOff val="80000"/>
                </a:schemeClr>
              </a:solidFill>
              <a:latin typeface="Agency FB" panose="020B0503020202020204" pitchFamily="34" charset="0"/>
            </a:endParaRPr>
          </a:p>
        </p:txBody>
      </p:sp>
      <p:pic>
        <p:nvPicPr>
          <p:cNvPr id="6" name="Picture 5">
            <a:extLst>
              <a:ext uri="{FF2B5EF4-FFF2-40B4-BE49-F238E27FC236}">
                <a16:creationId xmlns:a16="http://schemas.microsoft.com/office/drawing/2014/main" id="{B5596D71-14DA-00B9-93A0-9D6282F1A9A0}"/>
              </a:ext>
            </a:extLst>
          </p:cNvPr>
          <p:cNvPicPr>
            <a:picLocks noChangeAspect="1"/>
          </p:cNvPicPr>
          <p:nvPr/>
        </p:nvPicPr>
        <p:blipFill>
          <a:blip r:embed="rId2"/>
          <a:stretch>
            <a:fillRect/>
          </a:stretch>
        </p:blipFill>
        <p:spPr>
          <a:xfrm>
            <a:off x="347772" y="910249"/>
            <a:ext cx="5179268" cy="5245669"/>
          </a:xfrm>
          <a:prstGeom prst="rect">
            <a:avLst/>
          </a:prstGeom>
        </p:spPr>
      </p:pic>
      <p:sp>
        <p:nvSpPr>
          <p:cNvPr id="7" name="TextBox 6">
            <a:extLst>
              <a:ext uri="{FF2B5EF4-FFF2-40B4-BE49-F238E27FC236}">
                <a16:creationId xmlns:a16="http://schemas.microsoft.com/office/drawing/2014/main" id="{6EE715B6-09A5-02B3-24EB-D71FA33D69DC}"/>
              </a:ext>
            </a:extLst>
          </p:cNvPr>
          <p:cNvSpPr txBox="1"/>
          <p:nvPr/>
        </p:nvSpPr>
        <p:spPr>
          <a:xfrm>
            <a:off x="5709920" y="1442720"/>
            <a:ext cx="6134308" cy="4191789"/>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2000" dirty="0">
                <a:solidFill>
                  <a:schemeClr val="accent6">
                    <a:lumMod val="20000"/>
                    <a:lumOff val="80000"/>
                  </a:schemeClr>
                </a:solidFill>
              </a:rPr>
              <a:t>During the data import from Excel/CSV into SQL Server, a few columns (such as Product id, Quantity, etc.) were automatically detected and assigned as money or time data types instead of numeric. </a:t>
            </a:r>
          </a:p>
          <a:p>
            <a:pPr algn="just">
              <a:lnSpc>
                <a:spcPct val="150000"/>
              </a:lnSpc>
            </a:pPr>
            <a:endParaRPr lang="en-US" sz="2000" dirty="0">
              <a:solidFill>
                <a:schemeClr val="accent6">
                  <a:lumMod val="20000"/>
                  <a:lumOff val="80000"/>
                </a:schemeClr>
              </a:solidFill>
            </a:endParaRPr>
          </a:p>
          <a:p>
            <a:pPr marL="285750" indent="-285750" algn="just">
              <a:lnSpc>
                <a:spcPct val="150000"/>
              </a:lnSpc>
              <a:buFont typeface="Arial" panose="020B0604020202020204" pitchFamily="34" charset="0"/>
              <a:buChar char="•"/>
            </a:pPr>
            <a:r>
              <a:rPr lang="en-US" sz="2000" dirty="0">
                <a:solidFill>
                  <a:schemeClr val="accent6">
                    <a:lumMod val="20000"/>
                    <a:lumOff val="80000"/>
                  </a:schemeClr>
                </a:solidFill>
              </a:rPr>
              <a:t>Because of this: </a:t>
            </a:r>
          </a:p>
          <a:p>
            <a:pPr marL="742950" lvl="1" indent="-285750" algn="just">
              <a:lnSpc>
                <a:spcPct val="150000"/>
              </a:lnSpc>
              <a:buFont typeface="Wingdings" panose="05000000000000000000" pitchFamily="2" charset="2"/>
              <a:buChar char="Ø"/>
            </a:pPr>
            <a:r>
              <a:rPr lang="en-US" sz="2000" dirty="0">
                <a:solidFill>
                  <a:schemeClr val="accent6">
                    <a:lumMod val="20000"/>
                    <a:lumOff val="80000"/>
                  </a:schemeClr>
                </a:solidFill>
              </a:rPr>
              <a:t>Values did not display correctly</a:t>
            </a:r>
          </a:p>
          <a:p>
            <a:pPr marL="742950" lvl="1" indent="-285750" algn="just">
              <a:lnSpc>
                <a:spcPct val="150000"/>
              </a:lnSpc>
              <a:buFont typeface="Wingdings" panose="05000000000000000000" pitchFamily="2" charset="2"/>
              <a:buChar char="Ø"/>
            </a:pPr>
            <a:r>
              <a:rPr lang="en-US" sz="2000" dirty="0">
                <a:solidFill>
                  <a:schemeClr val="accent6">
                    <a:lumMod val="20000"/>
                    <a:lumOff val="80000"/>
                  </a:schemeClr>
                </a:solidFill>
              </a:rPr>
              <a:t> Query execution failed on those fields </a:t>
            </a:r>
            <a:endParaRPr lang="en-IN" sz="2000" dirty="0">
              <a:solidFill>
                <a:schemeClr val="accent6">
                  <a:lumMod val="20000"/>
                  <a:lumOff val="80000"/>
                </a:schemeClr>
              </a:solidFill>
            </a:endParaRPr>
          </a:p>
        </p:txBody>
      </p:sp>
    </p:spTree>
    <p:extLst>
      <p:ext uri="{BB962C8B-B14F-4D97-AF65-F5344CB8AC3E}">
        <p14:creationId xmlns:p14="http://schemas.microsoft.com/office/powerpoint/2010/main" val="2249630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B2D64-1514-8ED9-CCFD-B9956F440B4D}"/>
              </a:ext>
            </a:extLst>
          </p:cNvPr>
          <p:cNvSpPr txBox="1"/>
          <p:nvPr/>
        </p:nvSpPr>
        <p:spPr>
          <a:xfrm>
            <a:off x="3545840" y="467360"/>
            <a:ext cx="5821680" cy="707886"/>
          </a:xfrm>
          <a:prstGeom prst="rect">
            <a:avLst/>
          </a:prstGeom>
          <a:noFill/>
        </p:spPr>
        <p:txBody>
          <a:bodyPr wrap="square" rtlCol="0">
            <a:spAutoFit/>
          </a:bodyPr>
          <a:lstStyle/>
          <a:p>
            <a:pPr algn="ctr"/>
            <a:r>
              <a:rPr lang="en-US" sz="4000" b="1" dirty="0">
                <a:solidFill>
                  <a:schemeClr val="accent6">
                    <a:lumMod val="20000"/>
                    <a:lumOff val="80000"/>
                  </a:schemeClr>
                </a:solidFill>
                <a:latin typeface="Agency FB" panose="020B0503020202020204" pitchFamily="34" charset="0"/>
              </a:rPr>
              <a:t>CONCLUSION</a:t>
            </a:r>
            <a:endParaRPr lang="en-IN" sz="4000" b="1" dirty="0">
              <a:solidFill>
                <a:schemeClr val="accent6">
                  <a:lumMod val="20000"/>
                  <a:lumOff val="80000"/>
                </a:schemeClr>
              </a:solidFill>
              <a:latin typeface="Agency FB" panose="020B0503020202020204" pitchFamily="34" charset="0"/>
            </a:endParaRPr>
          </a:p>
        </p:txBody>
      </p:sp>
      <p:sp>
        <p:nvSpPr>
          <p:cNvPr id="3" name="TextBox 2">
            <a:extLst>
              <a:ext uri="{FF2B5EF4-FFF2-40B4-BE49-F238E27FC236}">
                <a16:creationId xmlns:a16="http://schemas.microsoft.com/office/drawing/2014/main" id="{C73BEA89-EA5F-7E86-E9EA-0FCAD8CA6411}"/>
              </a:ext>
            </a:extLst>
          </p:cNvPr>
          <p:cNvSpPr txBox="1"/>
          <p:nvPr/>
        </p:nvSpPr>
        <p:spPr>
          <a:xfrm>
            <a:off x="843280" y="1727200"/>
            <a:ext cx="10546080" cy="4653453"/>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000" dirty="0">
                <a:solidFill>
                  <a:schemeClr val="accent6">
                    <a:lumMod val="20000"/>
                    <a:lumOff val="80000"/>
                  </a:schemeClr>
                </a:solidFill>
              </a:rPr>
              <a:t>The visualizations made it easier to identify which areas are strong and where improvements can be made. </a:t>
            </a:r>
          </a:p>
          <a:p>
            <a:pPr marL="342900" indent="-342900" algn="just">
              <a:lnSpc>
                <a:spcPct val="150000"/>
              </a:lnSpc>
              <a:buFont typeface="Arial" panose="020B0604020202020204" pitchFamily="34" charset="0"/>
              <a:buChar char="•"/>
            </a:pPr>
            <a:r>
              <a:rPr lang="en-US" sz="2000" dirty="0">
                <a:solidFill>
                  <a:schemeClr val="accent6">
                    <a:lumMod val="20000"/>
                    <a:lumOff val="80000"/>
                  </a:schemeClr>
                </a:solidFill>
              </a:rPr>
              <a:t>Overall, the reports provided a meaningful overview of the dataset and supported data-driven decision making in a simple and effective way. </a:t>
            </a:r>
          </a:p>
          <a:p>
            <a:pPr marL="342900" indent="-342900" algn="just">
              <a:lnSpc>
                <a:spcPct val="150000"/>
              </a:lnSpc>
              <a:buFont typeface="Arial" panose="020B0604020202020204" pitchFamily="34" charset="0"/>
              <a:buChar char="•"/>
            </a:pPr>
            <a:r>
              <a:rPr lang="en-US" sz="2000" dirty="0">
                <a:solidFill>
                  <a:schemeClr val="accent6">
                    <a:lumMod val="20000"/>
                    <a:lumOff val="80000"/>
                  </a:schemeClr>
                </a:solidFill>
                <a:cs typeface="Times New Roman" panose="02020603050405020304" pitchFamily="18" charset="0"/>
              </a:rPr>
              <a:t>The analysis reveals that data-driven decision-making is essential for optimizing sales Trends, customer behavior, product performance and improves store and regional profitability. </a:t>
            </a:r>
            <a:endParaRPr lang="en-US" sz="2000" dirty="0">
              <a:solidFill>
                <a:schemeClr val="accent6">
                  <a:lumMod val="20000"/>
                  <a:lumOff val="80000"/>
                </a:schemeClr>
              </a:solidFill>
            </a:endParaRPr>
          </a:p>
          <a:p>
            <a:pPr>
              <a:lnSpc>
                <a:spcPct val="150000"/>
              </a:lnSpc>
            </a:pPr>
            <a:endParaRPr lang="en-US" sz="2000" dirty="0">
              <a:solidFill>
                <a:schemeClr val="accent6">
                  <a:lumMod val="20000"/>
                  <a:lumOff val="80000"/>
                </a:schemeClr>
              </a:solidFill>
            </a:endParaRPr>
          </a:p>
          <a:p>
            <a:pPr>
              <a:lnSpc>
                <a:spcPct val="150000"/>
              </a:lnSpc>
            </a:pPr>
            <a:endParaRPr lang="en-US" sz="2000" dirty="0">
              <a:solidFill>
                <a:schemeClr val="accent6">
                  <a:lumMod val="20000"/>
                  <a:lumOff val="80000"/>
                </a:schemeClr>
              </a:solidFill>
            </a:endParaRPr>
          </a:p>
          <a:p>
            <a:pPr>
              <a:lnSpc>
                <a:spcPct val="150000"/>
              </a:lnSpc>
            </a:pPr>
            <a:endParaRPr lang="en-IN" sz="2000" dirty="0">
              <a:solidFill>
                <a:schemeClr val="accent6">
                  <a:lumMod val="20000"/>
                  <a:lumOff val="80000"/>
                </a:schemeClr>
              </a:solidFill>
            </a:endParaRPr>
          </a:p>
        </p:txBody>
      </p:sp>
    </p:spTree>
    <p:extLst>
      <p:ext uri="{BB962C8B-B14F-4D97-AF65-F5344CB8AC3E}">
        <p14:creationId xmlns:p14="http://schemas.microsoft.com/office/powerpoint/2010/main" val="1011853476"/>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fontScheme name="Gallery">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docProps/app.xml><?xml version="1.0" encoding="utf-8"?>
<Properties xmlns="http://schemas.openxmlformats.org/officeDocument/2006/extended-properties" xmlns:vt="http://schemas.openxmlformats.org/officeDocument/2006/docPropsVTypes">
  <Template>Gallery</Template>
  <TotalTime>59</TotalTime>
  <Words>418</Words>
  <Application>Microsoft Office PowerPoint</Application>
  <PresentationFormat>Widescreen</PresentationFormat>
  <Paragraphs>37</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Agency FB</vt:lpstr>
      <vt:lpstr>Arial</vt:lpstr>
      <vt:lpstr>Courier New</vt:lpstr>
      <vt:lpstr>Rockwell</vt:lpstr>
      <vt:lpstr>Times New Roman</vt:lpstr>
      <vt:lpstr>Wingdings</vt:lpstr>
      <vt:lpstr>Gallery</vt:lpstr>
      <vt:lpstr>End-to-End Retail Performance  and Behavioral Analytics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Tedlapu Abhinav</dc:creator>
  <cp:lastModifiedBy>Tedlapu Abhinav</cp:lastModifiedBy>
  <cp:revision>1</cp:revision>
  <dcterms:created xsi:type="dcterms:W3CDTF">2026-01-10T15:36:58Z</dcterms:created>
  <dcterms:modified xsi:type="dcterms:W3CDTF">2026-01-10T16:36:50Z</dcterms:modified>
</cp:coreProperties>
</file>